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168" r:id="rId4"/>
  </p:sldMasterIdLst>
  <p:notesMasterIdLst>
    <p:notesMasterId r:id="rId12"/>
  </p:notesMasterIdLst>
  <p:handoutMasterIdLst>
    <p:handoutMasterId r:id="rId13"/>
  </p:handoutMasterIdLst>
  <p:sldIdLst>
    <p:sldId id="331" r:id="rId5"/>
    <p:sldId id="329" r:id="rId6"/>
    <p:sldId id="330" r:id="rId7"/>
    <p:sldId id="332" r:id="rId8"/>
    <p:sldId id="334" r:id="rId9"/>
    <p:sldId id="336" r:id="rId10"/>
    <p:sldId id="33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522DF1-5DC5-49E8-9152-DA6C890EDD4B}">
          <p14:sldIdLst>
            <p14:sldId id="331"/>
            <p14:sldId id="329"/>
            <p14:sldId id="330"/>
            <p14:sldId id="332"/>
            <p14:sldId id="334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04B516-11C1-41DF-BA51-6E3FDB3C8D69}" v="4" dt="2024-05-21T00:52:00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85316" autoAdjust="0"/>
  </p:normalViewPr>
  <p:slideViewPr>
    <p:cSldViewPr snapToGrid="0">
      <p:cViewPr varScale="1">
        <p:scale>
          <a:sx n="82" d="100"/>
          <a:sy n="82" d="100"/>
        </p:scale>
        <p:origin x="69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5/21/2024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5/21/2024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F17-7BA4-49BC-BB37-7F646CF8D2F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9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372337-7561-0F11-29D8-2C27F3701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892" y="1744980"/>
            <a:ext cx="10061455" cy="789463"/>
          </a:xfrm>
        </p:spPr>
        <p:txBody>
          <a:bodyPr/>
          <a:lstStyle/>
          <a:p>
            <a:r>
              <a:rPr lang="it-IT" sz="6000" dirty="0"/>
              <a:t>Coca Cola</a:t>
            </a:r>
            <a:r>
              <a:rPr lang="it-IT" sz="6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it-IT" sz="6000" dirty="0"/>
              <a:t>USA</a:t>
            </a:r>
            <a:endParaRPr lang="en-US" sz="6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F68464-0856-A5FB-4796-92CE4E73C2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6247" y="3317904"/>
            <a:ext cx="3853473" cy="1299973"/>
          </a:xfrm>
        </p:spPr>
        <p:txBody>
          <a:bodyPr/>
          <a:lstStyle/>
          <a:p>
            <a:r>
              <a:rPr lang="en-IN" sz="2200" dirty="0">
                <a:latin typeface="MS PMincho (Headings)"/>
              </a:rPr>
              <a:t>Presented by : Prathvi Raj Yadav</a:t>
            </a:r>
          </a:p>
          <a:p>
            <a:r>
              <a:rPr lang="en-IN" sz="2200" dirty="0">
                <a:latin typeface="MS PMincho (Headings)"/>
              </a:rPr>
              <a:t>Last Updated : 21-05-2024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163791-3D3E-79D2-1B1E-FB0CA331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4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5209-551F-6EC1-A54B-79D9B460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07" y="1261438"/>
            <a:ext cx="7408542" cy="753968"/>
          </a:xfrm>
        </p:spPr>
        <p:txBody>
          <a:bodyPr/>
          <a:lstStyle/>
          <a:p>
            <a:r>
              <a:rPr lang="en-US" sz="4400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C670D-F077-3C94-D042-1AB9347AE8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2976" y="1793289"/>
            <a:ext cx="5658458" cy="263875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8E8E8"/>
                </a:solidFill>
                <a:effectLst/>
                <a:latin typeface="Google Sans"/>
              </a:rPr>
              <a:t>Dr. John Pemberton served the world's first Coca‑Cola at Jacobs' Pharmacy in Atlanta, Ga. From that one iconic drink, we've evolved into a total beverage company. </a:t>
            </a:r>
            <a:r>
              <a:rPr lang="en-US" b="0" i="0" dirty="0">
                <a:solidFill>
                  <a:srgbClr val="E2EEFF"/>
                </a:solidFill>
                <a:effectLst/>
                <a:latin typeface="Google Sans"/>
              </a:rPr>
              <a:t>More than 2.1 billion servings of our drinks are enjoyed in more than 200 countries and territories each day</a:t>
            </a:r>
            <a:r>
              <a:rPr lang="en-US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ogle Sans"/>
              </a:rPr>
              <a:t>Coca Cola USA is one of the leading beverage companies in the country.</a:t>
            </a:r>
            <a:endParaRPr lang="en-IN" dirty="0">
              <a:latin typeface="Google Sans"/>
            </a:endParaRPr>
          </a:p>
          <a:p>
            <a:endParaRPr lang="en-US" b="0" i="0" dirty="0">
              <a:solidFill>
                <a:srgbClr val="E8E8E8"/>
              </a:solidFill>
              <a:effectLst/>
              <a:highlight>
                <a:srgbClr val="1F1F1F"/>
              </a:highlight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56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90" y="705891"/>
            <a:ext cx="5132389" cy="2214582"/>
          </a:xfrm>
        </p:spPr>
        <p:txBody>
          <a:bodyPr/>
          <a:lstStyle/>
          <a:p>
            <a:r>
              <a:rPr lang="en-US" sz="2400" b="1" i="0" spc="0" dirty="0">
                <a:effectLst/>
                <a:latin typeface="MS PMincho (Headings)"/>
              </a:rPr>
              <a:t>Global revenue and financial results of the Coca-Cola Company from 2010 to 2023</a:t>
            </a:r>
            <a:br>
              <a:rPr lang="en-US" sz="2400" b="1" i="0" spc="0" dirty="0">
                <a:effectLst/>
                <a:latin typeface="MS PMincho (Headings)"/>
              </a:rPr>
            </a:br>
            <a:r>
              <a:rPr lang="en-US" sz="1600" b="0" spc="0" dirty="0">
                <a:effectLst/>
                <a:latin typeface="MS PMincho (Headings)"/>
              </a:rPr>
              <a:t>in million U.S. dollars</a:t>
            </a:r>
            <a:br>
              <a:rPr lang="en-US" sz="2400" b="1" i="0" spc="0" dirty="0">
                <a:effectLst/>
                <a:latin typeface="MS PMincho (Headings)"/>
              </a:rPr>
            </a:br>
            <a:endParaRPr lang="en-US" sz="2400" spc="0" dirty="0">
              <a:latin typeface="MS PMincho (Headings)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6943FB-629C-9356-EAE4-6899EDA8D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0000"/>
                    </a14:imgEffect>
                    <a14:imgEffect>
                      <a14:brightnessContrast bright="5000" contrast="4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45747" y="1588774"/>
            <a:ext cx="5484649" cy="4340202"/>
          </a:xfrm>
          <a:prstGeom prst="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9C5CC9-C6D5-610A-628F-CA7F67EBD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556" y="1500702"/>
            <a:ext cx="914807" cy="9148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A6F769-A528-5F66-BF67-90FF1874EFFA}"/>
              </a:ext>
            </a:extLst>
          </p:cNvPr>
          <p:cNvSpPr txBox="1"/>
          <p:nvPr/>
        </p:nvSpPr>
        <p:spPr>
          <a:xfrm>
            <a:off x="6045747" y="1588774"/>
            <a:ext cx="18816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MS PMincho (Headings)"/>
              </a:rPr>
              <a:t>COCA COLA</a:t>
            </a:r>
            <a:endParaRPr lang="en-IN" b="1" dirty="0">
              <a:latin typeface="MS PMincho (Headings)"/>
            </a:endParaRP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FB1D0282-A0DB-3851-6C3A-B6A35A966158}"/>
              </a:ext>
            </a:extLst>
          </p:cNvPr>
          <p:cNvSpPr txBox="1">
            <a:spLocks/>
          </p:cNvSpPr>
          <p:nvPr/>
        </p:nvSpPr>
        <p:spPr>
          <a:xfrm>
            <a:off x="11298350" y="6243403"/>
            <a:ext cx="720499" cy="2794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  <a:latin typeface="MS PMincho (Headings)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5E16D3-4028-AA0C-A7D9-8AB40A05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084" y="890016"/>
            <a:ext cx="4416072" cy="1321340"/>
          </a:xfrm>
        </p:spPr>
        <p:txBody>
          <a:bodyPr/>
          <a:lstStyle/>
          <a:p>
            <a:r>
              <a:rPr lang="en-IN" dirty="0"/>
              <a:t>Sales Performance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EA95D66-07D4-B718-7442-747FF0943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36834" y="2528597"/>
            <a:ext cx="3439598" cy="354107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Our sales performance metrics indicate strong growth in key markets and product segments.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Mangal (Body)"/>
              </a:rPr>
              <a:t>Their products are enjoyed </a:t>
            </a:r>
            <a:r>
              <a:rPr lang="en-US" b="1" i="0" dirty="0">
                <a:effectLst/>
                <a:latin typeface="Mangal (Body)"/>
              </a:rPr>
              <a:t>1.7 billion times daily</a:t>
            </a:r>
            <a:r>
              <a:rPr lang="en-US" b="0" i="0" dirty="0">
                <a:effectLst/>
                <a:latin typeface="Mangal (Body)"/>
              </a:rPr>
              <a:t> worldwide.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First quarter revenue of 2023 was</a:t>
            </a:r>
            <a:r>
              <a:rPr lang="en-US" b="1" i="0" dirty="0">
                <a:effectLst/>
              </a:rPr>
              <a:t> USD 10.98 billion</a:t>
            </a:r>
            <a:r>
              <a:rPr lang="en-US" b="0" i="0" dirty="0">
                <a:effectLst/>
              </a:rPr>
              <a:t>, a </a:t>
            </a:r>
            <a:r>
              <a:rPr lang="en-US" b="1" i="0" dirty="0">
                <a:effectLst/>
              </a:rPr>
              <a:t>4.66% increase</a:t>
            </a:r>
            <a:r>
              <a:rPr lang="en-US" b="0" i="0" dirty="0">
                <a:effectLst/>
              </a:rPr>
              <a:t> from the previous year.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Fiscal year earnings as of March 31, 2023, were USD 43.493 billion, up</a:t>
            </a:r>
            <a:r>
              <a:rPr lang="en-US" b="1" i="0" dirty="0">
                <a:effectLst/>
              </a:rPr>
              <a:t> 8.39%</a:t>
            </a:r>
            <a:r>
              <a:rPr lang="en-US" b="0" i="0" dirty="0">
                <a:effectLst/>
              </a:rPr>
              <a:t> year-over-year.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In 2022, sales increased </a:t>
            </a:r>
            <a:r>
              <a:rPr lang="en-US" b="1" i="0" dirty="0">
                <a:effectLst/>
              </a:rPr>
              <a:t>by 11.25%</a:t>
            </a:r>
            <a:r>
              <a:rPr lang="en-US" b="0" i="0" dirty="0">
                <a:effectLst/>
              </a:rPr>
              <a:t>, reaching USD 43.004 billion.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139FC-6BF8-0C24-E11A-B01D1A7D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6F4CFD-4E24-E2A9-BBBB-15FF53D0788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66" r="6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5345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8A19C7-2D84-854E-E6D1-A6E7DC27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559" y="362670"/>
            <a:ext cx="10126933" cy="425138"/>
          </a:xfrm>
        </p:spPr>
        <p:txBody>
          <a:bodyPr/>
          <a:lstStyle/>
          <a:p>
            <a:r>
              <a:rPr lang="en-IN" dirty="0"/>
              <a:t>Retailer Data Overview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7EE459-5863-2A86-B3D7-6665F41E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CE873E-AFEB-DC75-4644-213ADCE42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149" y="1588078"/>
            <a:ext cx="9048998" cy="4749576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39B1301-B013-EF57-099A-47FB47E47D4B}"/>
              </a:ext>
            </a:extLst>
          </p:cNvPr>
          <p:cNvSpPr txBox="1">
            <a:spLocks/>
          </p:cNvSpPr>
          <p:nvPr/>
        </p:nvSpPr>
        <p:spPr>
          <a:xfrm>
            <a:off x="1109885" y="1153103"/>
            <a:ext cx="9568814" cy="434975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2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1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 Our retailer data provides valuable insights into consumer preferences, sales trends, and market analysis.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32533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C2A9D-C7EB-4CEC-E3F9-F9BB9625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7E8B7A-9283-B956-8E21-905974C61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22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E35ECA-2B69-5213-DBE4-301EAB67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032" y="608075"/>
            <a:ext cx="10061455" cy="64465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2A6005-AC60-8CAB-D35A-C3395096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240DE7E-6BE6-15D3-6967-AD09ADE2655A}"/>
              </a:ext>
            </a:extLst>
          </p:cNvPr>
          <p:cNvSpPr txBox="1">
            <a:spLocks/>
          </p:cNvSpPr>
          <p:nvPr/>
        </p:nvSpPr>
        <p:spPr>
          <a:xfrm>
            <a:off x="1112512" y="1755647"/>
            <a:ext cx="8023868" cy="16257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15000"/>
              <a:buFont typeface="Courier New" panose="02070309020205020404" pitchFamily="49" charset="0"/>
              <a:buNone/>
              <a:defRPr sz="1400" b="0" i="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Mangal" panose="02040503050203030202" pitchFamily="18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MS PMincho (Headings)"/>
              </a:rPr>
              <a:t>In conclusion, Coca Cola USA continues to thrive in the competitive beverage industry, thanks to our robust retailer data and strategic initiatives.</a:t>
            </a:r>
            <a:endParaRPr lang="en-IN" sz="1800" dirty="0">
              <a:latin typeface="MS PMincho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733822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5E4DA4-E494-46AA-9E36-29155C1433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9CA4D2-B95E-49C0-A306-875863A41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296157-C082-4829-A89B-8A5ED50B658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238</Words>
  <Application>Microsoft Office PowerPoint</Application>
  <PresentationFormat>Widescreen</PresentationFormat>
  <Paragraphs>25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MS PMincho</vt:lpstr>
      <vt:lpstr>Arial</vt:lpstr>
      <vt:lpstr>Calibri</vt:lpstr>
      <vt:lpstr>Courier New</vt:lpstr>
      <vt:lpstr>Google Sans</vt:lpstr>
      <vt:lpstr>Mangal</vt:lpstr>
      <vt:lpstr>Mangal (Body)</vt:lpstr>
      <vt:lpstr>MS PMincho (Headings)</vt:lpstr>
      <vt:lpstr>Custom</vt:lpstr>
      <vt:lpstr>Coca Cola USA</vt:lpstr>
      <vt:lpstr>Introduction</vt:lpstr>
      <vt:lpstr>Global revenue and financial results of the Coca-Cola Company from 2010 to 2023 in million U.S. dollars </vt:lpstr>
      <vt:lpstr>Sales Performance</vt:lpstr>
      <vt:lpstr>Retailer Data Overview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2023-07-18T10:17:11Z</dcterms:created>
  <dcterms:modified xsi:type="dcterms:W3CDTF">2024-05-21T00:56:55Z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